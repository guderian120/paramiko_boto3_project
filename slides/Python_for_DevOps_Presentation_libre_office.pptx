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sldIdLst>
    <p:sldId id="256" r:id="rId14"/>
    <p:sldId id="257" r:id="rId15"/>
    <p:sldId id="258" r:id="rId16"/>
    <p:sldId id="259" r:id="rId17"/>
    <p:sldId id="260" r:id="rId18"/>
    <p:sldId id="261" r:id="rId1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26DA2AA-B0F5-4E0F-9879-636843ACBA1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7E32E-2F0C-4140-B041-B9A0F0E887E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A6C07F-085E-47C8-87A5-66F0A9AEC6B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8488A01-F848-4CA3-8363-D4B5B143E06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4EC3F23-4BDB-4643-A0E4-8EE516562B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74AD778-F211-4652-A21F-D2D15C252E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2BB8C9D-5F74-420C-A67E-799F876A69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E0E0E5-88FE-41FF-9DE1-116C73659D98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A299B3-4FF6-4B14-BC67-37EA5BD2531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70A82A4-CC11-4D4D-93A2-DE8AC1DA94A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4B53E68-F8B1-4C76-A162-2B5F93AF6B1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931F88-82EE-47D9-AE34-17D2EF9B5B70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786A90A-7262-4A6B-937C-3D65B88CC04C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216E7A8-27DC-4D49-8E57-767A7828A50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3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4;p2"/>
          <p:cNvSpPr/>
          <p:nvPr/>
        </p:nvSpPr>
        <p:spPr>
          <a:xfrm>
            <a:off x="0" y="0"/>
            <a:ext cx="9143640" cy="650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" name="Google Shape;15;p2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2" name="Google Shape;16;p2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" name="Google Shape;17;p2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763280"/>
            <a:ext cx="7687800" cy="221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DB1470-1400-4343-83E0-62338C254AAC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725040" y="5830200"/>
            <a:ext cx="7697160" cy="61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2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F79379-065B-4FA1-8BB4-1C2A4126E332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84;p12"/>
          <p:cNvGrpSpPr/>
          <p:nvPr/>
        </p:nvGrpSpPr>
        <p:grpSpPr>
          <a:xfrm>
            <a:off x="367560" y="5581080"/>
            <a:ext cx="1666800" cy="17280"/>
            <a:chOff x="367560" y="5581080"/>
            <a:chExt cx="1666800" cy="17280"/>
          </a:xfrm>
        </p:grpSpPr>
        <p:sp>
          <p:nvSpPr>
            <p:cNvPr id="12" name="Google Shape;85;p12"/>
            <p:cNvSpPr/>
            <p:nvPr/>
          </p:nvSpPr>
          <p:spPr>
            <a:xfrm rot="16200000">
              <a:off x="1380600" y="4944600"/>
              <a:ext cx="17280" cy="1289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3" name="Google Shape;86;p12"/>
            <p:cNvSpPr/>
            <p:nvPr/>
          </p:nvSpPr>
          <p:spPr>
            <a:xfrm rot="16200000">
              <a:off x="1009440" y="4939200"/>
              <a:ext cx="17280" cy="13010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9360" y="978480"/>
            <a:ext cx="7688160" cy="165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n-US" sz="8000" strike="noStrike" u="none">
                <a:solidFill>
                  <a:schemeClr val="lt1"/>
                </a:solidFill>
                <a:uFillTx/>
                <a:latin typeface="Raleway"/>
                <a:ea typeface="Raleway"/>
              </a:rPr>
              <a:t>xx%</a:t>
            </a:r>
            <a:endParaRPr b="0" lang="en-US" sz="8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29360" y="3030480"/>
            <a:ext cx="7688160" cy="210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3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F354A7-5C37-462B-9EEE-CC8D8F355C71}" type="slidenum">
              <a: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Num" idx="4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210077-DD76-4F81-A7DC-B5B37B5741A4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CFFCDD-0E50-402E-9C6E-0C9105B9B849}" type="slidenum">
              <a: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8;p4"/>
          <p:cNvSpPr/>
          <p:nvPr/>
        </p:nvSpPr>
        <p:spPr>
          <a:xfrm>
            <a:off x="0" y="0"/>
            <a:ext cx="9143640" cy="65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8" name="Google Shape;29;p4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29" name="Google Shape;30;p4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0" name="Google Shape;31;p4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9360" y="1758240"/>
            <a:ext cx="7688160" cy="7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8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A20B8B-4B39-4D53-9A40-041D9E3ADB13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36" name="Google Shape;36;p5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9360" y="1763280"/>
            <a:ext cx="7688160" cy="20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9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FEA778-0ACF-42ED-80CF-BCE0610344FA}" type="slidenum">
              <a: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1;p6"/>
          <p:cNvSpPr/>
          <p:nvPr/>
        </p:nvSpPr>
        <p:spPr>
          <a:xfrm>
            <a:off x="0" y="0"/>
            <a:ext cx="9143640" cy="65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" name="Google Shape;42;p6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42" name="Google Shape;43;p6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3" name="Google Shape;44;p6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9360" y="1758240"/>
            <a:ext cx="7688520" cy="7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9360" y="2772000"/>
            <a:ext cx="7688520" cy="301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0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D6DABA-51F9-496D-BDD1-016397F5C959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9143640" cy="65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50" name="Google Shape;50;p7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51" name="Google Shape;51;p7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9360" y="1758240"/>
            <a:ext cx="7688160" cy="7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29360" y="2772000"/>
            <a:ext cx="3773880" cy="301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43640" y="2772000"/>
            <a:ext cx="3773880" cy="301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1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55E0C-84A8-4652-9AD5-929D5241FC1E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58;p8"/>
          <p:cNvSpPr/>
          <p:nvPr/>
        </p:nvSpPr>
        <p:spPr>
          <a:xfrm>
            <a:off x="0" y="0"/>
            <a:ext cx="9143640" cy="650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1" name="Google Shape;59;p8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62" name="Google Shape;60;p8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3" name="Google Shape;61;p8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30080" y="1758240"/>
            <a:ext cx="3300480" cy="184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21080" y="3709080"/>
            <a:ext cx="3300480" cy="212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12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D20C13-6248-4F13-9DE5-553BE1090E39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6;p9"/>
          <p:cNvGrpSpPr/>
          <p:nvPr/>
        </p:nvGrpSpPr>
        <p:grpSpPr>
          <a:xfrm>
            <a:off x="367560" y="5581080"/>
            <a:ext cx="1666800" cy="17280"/>
            <a:chOff x="367560" y="5581080"/>
            <a:chExt cx="1666800" cy="17280"/>
          </a:xfrm>
        </p:grpSpPr>
        <p:sp>
          <p:nvSpPr>
            <p:cNvPr id="68" name="Google Shape;67;p9"/>
            <p:cNvSpPr/>
            <p:nvPr/>
          </p:nvSpPr>
          <p:spPr>
            <a:xfrm rot="16200000">
              <a:off x="1380600" y="4944600"/>
              <a:ext cx="17280" cy="1289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9" name="Google Shape;68;p9"/>
            <p:cNvSpPr/>
            <p:nvPr/>
          </p:nvSpPr>
          <p:spPr>
            <a:xfrm rot="16200000">
              <a:off x="1009440" y="4939200"/>
              <a:ext cx="17280" cy="13010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9360" y="1152360"/>
            <a:ext cx="7020720" cy="39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13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0A1BFC-B852-4F78-A56E-8F5800E0FDAB}" type="slidenum">
              <a:rPr b="0" lang="en-US" sz="1000" strike="noStrike" u="none">
                <a:solidFill>
                  <a:schemeClr val="l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0" y="0"/>
            <a:ext cx="4571640" cy="6857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3" name="Google Shape;73;p10"/>
          <p:cNvGrpSpPr/>
          <p:nvPr/>
        </p:nvGrpSpPr>
        <p:grpSpPr>
          <a:xfrm>
            <a:off x="367560" y="1610640"/>
            <a:ext cx="1666800" cy="17280"/>
            <a:chOff x="367560" y="1610640"/>
            <a:chExt cx="1666800" cy="17280"/>
          </a:xfrm>
        </p:grpSpPr>
        <p:sp>
          <p:nvSpPr>
            <p:cNvPr id="74" name="Google Shape;74;p10"/>
            <p:cNvSpPr/>
            <p:nvPr/>
          </p:nvSpPr>
          <p:spPr>
            <a:xfrm rot="16200000">
              <a:off x="1380600" y="974160"/>
              <a:ext cx="17280" cy="128988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5" name="Google Shape;75;p10"/>
            <p:cNvSpPr/>
            <p:nvPr/>
          </p:nvSpPr>
          <p:spPr>
            <a:xfrm rot="16200000">
              <a:off x="1009440" y="968760"/>
              <a:ext cx="17280" cy="13010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730080" y="1758240"/>
            <a:ext cx="330048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174280" y="1803600"/>
            <a:ext cx="3373920" cy="403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4"/>
          </p:nvPr>
        </p:nvSpPr>
        <p:spPr>
          <a:xfrm>
            <a:off x="8536320" y="6333120"/>
            <a:ext cx="54828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0D08FA-B8BE-4047-A26E-0868DE5D24A0}" type="slidenum">
              <a:rPr b="0" lang="en-US" sz="1000" strike="noStrike" u="none">
                <a:solidFill>
                  <a:schemeClr val="accent1"/>
                </a:solidFill>
                <a:uFillTx/>
                <a:latin typeface="Lato"/>
                <a:ea typeface="Lato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9360" y="1763280"/>
            <a:ext cx="7687800" cy="2219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Supercharging DevOps with Python Libraries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729720" y="4230360"/>
            <a:ext cx="7687800" cy="72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888888"/>
                </a:solidFill>
                <a:uFillTx/>
                <a:latin typeface="Lato"/>
                <a:ea typeface="Lato"/>
              </a:rPr>
              <a:t>A  Dive into Python's Power for Infrastructure Automation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888888"/>
                </a:solidFill>
                <a:uFillTx/>
                <a:latin typeface="Lato"/>
                <a:ea typeface="Lato"/>
              </a:rPr>
              <a:t>Andy Amponsah | DevOps GTP | 06-09-25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Why Python for DevOps?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2291400"/>
            <a:ext cx="8229240" cy="36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>
              <a:lnSpc>
                <a:spcPct val="115000"/>
              </a:lnSpc>
              <a:buClr>
                <a:srgbClr val="1a9988"/>
              </a:buClr>
              <a:buSzPct val="103000"/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Simple, readable syntax—great for scripting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SzPct val="103000"/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Huge ecosystem of libraries (boto3)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SzPct val="103000"/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Active DevOps tooling community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spcAft>
                <a:spcPts val="1199"/>
              </a:spcAft>
              <a:buClr>
                <a:srgbClr val="1a9988"/>
              </a:buClr>
              <a:buSzPct val="103000"/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Easy integration with cloud platforms (AWS)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Key Python Libraries for DevOps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2200680"/>
            <a:ext cx="8229240" cy="340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15000"/>
              </a:lnSpc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boto3 – AWS automation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paramiko – SSH into servers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subprocess – Shell command execution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os / sys – File &amp; environment management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29360" y="1758240"/>
            <a:ext cx="7688160" cy="7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55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Practical Demo – EC2 Provisioning (with boto3)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Google Shape;115;p17"/>
          <p:cNvSpPr/>
          <p:nvPr/>
        </p:nvSpPr>
        <p:spPr>
          <a:xfrm>
            <a:off x="218160" y="1224360"/>
            <a:ext cx="8014320" cy="54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import boto3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Everything Fails All the time.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       Werner Vogels(Aws CTO)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ec2 = boto3.resource('ec2')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	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instance = ec2.create_instances(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ImageId='ami-0abcd1234abcd5678',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InstanceType='t2.micro',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MaxCount=1,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MinCount=1,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SubnetId='subnet-0a1b2c3d4e5f6g7h',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SecurityGroupIds=['sg-0a1b2c3d4e5f6g7h'],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    KeyName='my-key'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)</a:t>
            </a:r>
            <a:br>
              <a:rPr sz="1200"/>
            </a:br>
            <a:r>
              <a:rPr b="0" lang="en-US" sz="1200" strike="noStrike" u="none">
                <a:solidFill>
                  <a:schemeClr val="dk1"/>
                </a:solidFill>
                <a:uFillTx/>
                <a:latin typeface="Courier New"/>
                <a:ea typeface="Courier New"/>
              </a:rPr>
              <a:t>print("EC2 Instance Launched:", instance[0].id)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7" name="Google Shape;116;p17"/>
          <p:cNvCxnSpPr/>
          <p:nvPr/>
        </p:nvCxnSpPr>
        <p:spPr>
          <a:xfrm>
            <a:off x="4791240" y="3053520"/>
            <a:ext cx="41760" cy="3239280"/>
          </a:xfrm>
          <a:prstGeom prst="straightConnector1">
            <a:avLst/>
          </a:prstGeom>
          <a:ln w="9525">
            <a:solidFill>
              <a:srgbClr val="1a9988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Why This Matters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2765160"/>
            <a:ext cx="8229240" cy="336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15000"/>
              </a:lnSpc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Speed: Infrastructure in seconds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Consistency: No manual clicks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Scalability: Automate entire environments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64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Final Thoughts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343080" indent="-343080">
              <a:lnSpc>
                <a:spcPct val="115000"/>
              </a:lnSpc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Quick Recap: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Python is a Swiss Army knife for DevOps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Libraries like boto3 simplify cloud operations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One script = powerful automation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139680">
              <a:lnSpc>
                <a:spcPct val="115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buClr>
                <a:srgbClr val="1a9988"/>
              </a:buClr>
              <a:buFont typeface="Lato"/>
              <a:buChar char="●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My challenge to you: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641"/>
              </a:spcBef>
              <a:spcAft>
                <a:spcPts val="1199"/>
              </a:spcAft>
              <a:buClr>
                <a:srgbClr val="1a9988"/>
              </a:buClr>
              <a:buFont typeface="Lato"/>
              <a:buChar char="●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“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Go to my github, follow the tutorials, add more fun stuff and share on the channel!”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LibreOffice/24.8.6.2$Linux_X86_64 LibreOffice_project/d50be90c1d90f0f90a5235ffcbbafbbfa38a83c2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2025-05-09T08:18:59Z</dcterms:modified>
  <cp:revision>1</cp:revision>
  <dc:subject/>
  <dc:title/>
</cp:coreProperties>
</file>